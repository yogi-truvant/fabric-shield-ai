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365760"/>
            <a:ext cx="731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SHIELD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FabricShield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PII/PHI Governance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Marketplace  ·  Azure SQL  ·  Microsoft Fabric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2D54"/>
          </a:solidFill>
          <a:ln w="12700">
            <a:solidFill>
              <a:srgbClr val="152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Transfer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09728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The Problem We're Solving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76272"/>
            <a:ext cx="109728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76272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Product Overview &amp; Demo Flow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334670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346704"/>
            <a:ext cx="109728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467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System Architecture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05840"/>
            <a:ext cx="109728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0058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Module Deep Dive (Backend)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846320" y="21762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176272"/>
            <a:ext cx="109728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176272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Frontend &amp; UX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846320" y="334670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346704"/>
            <a:ext cx="109728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3467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Done vs Pending + Your Roadmap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$2M Compliance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healthcare orgs don't know where all PII lives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143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$4.35M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383280" y="210312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cost of a healthcare data breach (IBM 2023)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143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200+ hrs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72200" y="210312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audit time per database schema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B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FabricShield automates what takes weeks in hours.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FabricShield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42416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424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Azure SQL or Fabric database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01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7647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scans schema + samples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5237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 PII/PHI columns with confidence scores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19272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19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2826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reviews + approves in workflow UI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78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40416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Masking applied automatically to database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1188720"/>
            <a:ext cx="3657600" cy="6858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11887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HIPAA-aligned audit trail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2304288"/>
            <a:ext cx="365760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23042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Zero-copy — data never leaves your Azure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3419856"/>
            <a:ext cx="36576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20640" y="341985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Marketplace SaaS — pay monthly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60320" y="960120"/>
            <a:ext cx="402336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560320" y="960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/ React SPA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0" cy="256032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719072"/>
            <a:ext cx="54864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1719072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App Service — FastAPI Backend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23160" y="2249424"/>
            <a:ext cx="0" cy="256032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249424"/>
            <a:ext cx="0" cy="256032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2249424"/>
            <a:ext cx="0" cy="256032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05456"/>
            <a:ext cx="2560320" cy="62179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50545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SQL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2505456"/>
            <a:ext cx="2560320" cy="62179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50545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Fabric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(SQL Endpoint)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505456"/>
            <a:ext cx="2560320" cy="62179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50545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DB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(Workflow State)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737360" y="3127248"/>
            <a:ext cx="0" cy="22860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127248"/>
            <a:ext cx="0" cy="22860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3127248"/>
            <a:ext cx="0" cy="22860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55848"/>
            <a:ext cx="2560320" cy="594360"/>
          </a:xfrm>
          <a:prstGeom prst="rect">
            <a:avLst/>
          </a:prstGeom>
          <a:solidFill>
            <a:srgbClr val="8A8886"/>
          </a:solidFill>
          <a:ln w="12700">
            <a:solidFill>
              <a:srgbClr val="8A888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355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Vault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(Secrets)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3355848"/>
            <a:ext cx="2560320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3355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(Auth)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355848"/>
            <a:ext cx="2560320" cy="594360"/>
          </a:xfrm>
          <a:prstGeom prst="rect">
            <a:avLst/>
          </a:prstGeom>
          <a:solidFill>
            <a:srgbClr val="8764B8"/>
          </a:solidFill>
          <a:ln w="12700">
            <a:solidFill>
              <a:srgbClr val="8764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355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Insights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(Telemetry)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connections via Managed Identity  ·  No passwords in code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Isolation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09728" cy="32918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78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customer (tenant) is identified by their Entra ID tenant GUID.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Cosmos DB records use tenant_id as partition key — queries are physically isolated.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tokens carry the tid claim. API validates it on every request.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7490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DB Containers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508760"/>
            <a:ext cx="37490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scan_results  →  /tenant_id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194560"/>
            <a:ext cx="37490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approvals  →  /tenant_id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2880360"/>
            <a:ext cx="37490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  →  /tenant_id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3566160"/>
            <a:ext cx="37490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tenant_config  →  /tenant_id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PII Detection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37160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column-name patterns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SSN, Email, DOB, MRN, NPI, DEA, Credit Card, IBAN, IP, Phone, Address, PHI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confidence: 0.75–0.92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Speed: instant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4069080" cy="3291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ML-Based (Presidio)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37160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Presidio NLP engine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Samples up to 100 rows per column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en_core_web_lg spaCy model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Presidio score x hit-rate adjustment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858768"/>
            <a:ext cx="83210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877056"/>
            <a:ext cx="8046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Logic: When both agree — boost by +0.15 (cap 1.0) → DetectionSource.BOTH  |  Disagreement: take higher confidence source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SQL Dynamic Data Masking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09728" cy="1508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5361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data type default.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DOB → 01-01-1900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109728" cy="1508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0328" y="153619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letter + domain.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john@hosp.com → jXXXX@XXXX.com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109728" cy="1508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partial(0,'XXX-XX-',4)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22783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SSN: 123-45-6789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XXX-XX-6789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697480"/>
            <a:ext cx="109728" cy="1508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random(1,9999)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0328" y="322783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Integer cols: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→ 7831 (different each query)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DDM is Azure SQL native — data never moved, masking happens at query engine layer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417320" cy="804672"/>
          </a:xfrm>
          <a:prstGeom prst="rect">
            <a:avLst/>
          </a:prstGeom>
          <a:solidFill>
            <a:srgbClr val="8A8886"/>
          </a:solidFill>
          <a:ln w="12700">
            <a:solidFill>
              <a:srgbClr val="8A888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74520" y="1453896"/>
            <a:ext cx="201168" cy="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5688" y="1051560"/>
            <a:ext cx="1417320" cy="80467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75688" y="105156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Cosmos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93008" y="1453896"/>
            <a:ext cx="201168" cy="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94176" y="1051560"/>
            <a:ext cx="1417320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94176" y="105156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shows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 cols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11496" y="1453896"/>
            <a:ext cx="201168" cy="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12664" y="1051560"/>
            <a:ext cx="1417320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12664" y="105156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9984" y="1453896"/>
            <a:ext cx="201168" cy="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1152" y="1051560"/>
            <a:ext cx="141732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31152" y="105156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9812" y="1856232"/>
            <a:ext cx="0" cy="256032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94176" y="2112264"/>
            <a:ext cx="1417320" cy="80467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94176" y="2112264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11496" y="2514600"/>
            <a:ext cx="201168" cy="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12664" y="2112264"/>
            <a:ext cx="1417320" cy="804672"/>
          </a:xfrm>
          <a:prstGeom prst="rect">
            <a:avLst/>
          </a:prstGeom>
          <a:solidFill>
            <a:srgbClr val="8764B8"/>
          </a:solidFill>
          <a:ln w="12700">
            <a:solidFill>
              <a:srgbClr val="8764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12664" y="2112264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Purview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9984" y="2514600"/>
            <a:ext cx="201168" cy="0"/>
          </a:xfrm>
          <a:prstGeom prst="line">
            <a:avLst/>
          </a:prstGeom>
          <a:noFill/>
          <a:ln w="25400">
            <a:solidFill>
              <a:srgbClr val="605E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31152" y="2112264"/>
            <a:ext cx="1417320" cy="80467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31152" y="2112264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21579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REJECTED: queued for re-review.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832104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1546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B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suggests.  Humans decide.  Audit trail is immutable.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385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1938528" cy="365760"/>
          </a:xfrm>
          <a:prstGeom prst="rect">
            <a:avLst/>
          </a:prstGeom>
          <a:solidFill>
            <a:srgbClr val="8A8886"/>
          </a:solidFill>
          <a:ln w="12700">
            <a:solidFill>
              <a:srgbClr val="8A88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only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039112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33472" y="1051560"/>
            <a:ext cx="19385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33472" y="1051560"/>
            <a:ext cx="1938528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0515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50876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+ View results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039112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Initiate new scans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9744" y="1051560"/>
            <a:ext cx="19385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9744" y="1051560"/>
            <a:ext cx="1938528" cy="3657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0515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150876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+ Mask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2039112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Analyst rights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86016" y="1051560"/>
            <a:ext cx="19385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6016" y="1051560"/>
            <a:ext cx="1938528" cy="365760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105156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95744" y="150876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95744" y="2039112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roles + config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8321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566160"/>
            <a:ext cx="80467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defined as Entra ID App Roles  →  assigned to users/groups  →  JWT carries roles claim  →  validated server-side on every request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Codebase — File Map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60320"/>
                <a:gridCol w="434340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Responsibility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Layer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api/scan.py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+ poll scans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Layer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api/approvals.py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HITL workflow endpoints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Layer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api/powerbi.py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Embed token generation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Engine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core/pii_engine.py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Hybrid detection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Engine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core/masking_engine.py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DDM SQL builder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Engine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core/db_connector.py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MSI database connections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Engine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core/audit.py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Dual-sink audit logger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storage/cosmos_store.py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Async Cosmos CRUD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auth/entra.py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 validation + RBAC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Marketplace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marketplace/fulfillment.py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SaaS Fulfillment API v2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Governance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governance/purview.py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Purview classifications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Frontend — 4 Pages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05840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embed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Masking coverage bar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023360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005840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56048" y="1389888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selector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filter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polling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0233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43200"/>
            <a:ext cx="4023360" cy="3291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743200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127248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MUI DataGrid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approve/reject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tabs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40233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743200"/>
            <a:ext cx="4023360" cy="329184"/>
          </a:xfrm>
          <a:prstGeom prst="rect">
            <a:avLst/>
          </a:prstGeom>
          <a:solidFill>
            <a:srgbClr val="8764B8"/>
          </a:solidFill>
          <a:ln w="12700">
            <a:solidFill>
              <a:srgbClr val="8764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743200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56048" y="3127248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log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filter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07408"/>
            <a:ext cx="83210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074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MSAL multi-tenant auth  ·  useRole() hook  ·  RoleGuard component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Status at Handover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402336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 — Tested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 engine rule detection (unit tested)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DDM SQL builder (unit tested)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API endpoints (code-complete)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Bicep infra template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CI/CD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05840"/>
            <a:ext cx="2651760" cy="40233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058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— Needs Integration Test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48132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scan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+ masking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MSAL login + RBAC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DB storage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App Service deploy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05840"/>
            <a:ext cx="2651760" cy="40233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0058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— Amritha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48132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vite.config.js + index.html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.pbix report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dataset + seed SQL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name on approvals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test suite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Journey, Amritha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280160"/>
            <a:ext cx="19385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280160"/>
            <a:ext cx="1938528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  |  Week 1-2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1755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It Running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450592"/>
            <a:ext cx="1755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Setup, deploy,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check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58568" y="2468880"/>
            <a:ext cx="237744" cy="0"/>
          </a:xfrm>
          <a:prstGeom prst="line">
            <a:avLst/>
          </a:prstGeom>
          <a:noFill/>
          <a:ln w="31750">
            <a:solidFill>
              <a:srgbClr val="00BC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6312" y="1280160"/>
            <a:ext cx="19385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280160"/>
            <a:ext cx="1938528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28016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  |  Week 3-4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87752" y="1755648"/>
            <a:ext cx="1755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Work E2E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87752" y="2450592"/>
            <a:ext cx="1755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&gt; approve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mask full 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2468880"/>
            <a:ext cx="237744" cy="0"/>
          </a:xfrm>
          <a:prstGeom prst="line">
            <a:avLst/>
          </a:prstGeom>
          <a:noFill/>
          <a:ln w="31750">
            <a:solidFill>
              <a:srgbClr val="00BC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1280160"/>
            <a:ext cx="19385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280160"/>
            <a:ext cx="1938528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28016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  |  Week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64024" y="1755648"/>
            <a:ext cx="1755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Polish for Demo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2450592"/>
            <a:ext cx="1755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UX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fixes, rehearsal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11112" y="2468880"/>
            <a:ext cx="237744" cy="0"/>
          </a:xfrm>
          <a:prstGeom prst="line">
            <a:avLst/>
          </a:prstGeom>
          <a:noFill/>
          <a:ln w="31750">
            <a:solidFill>
              <a:srgbClr val="00BC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48856" y="1280160"/>
            <a:ext cx="19385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48856" y="1280160"/>
            <a:ext cx="1938528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128016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4  |  Week 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0296" y="1755648"/>
            <a:ext cx="17556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Demo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0296" y="2450592"/>
            <a:ext cx="17556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Present, collect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858768"/>
            <a:ext cx="8321040" cy="685800"/>
          </a:xfrm>
          <a:prstGeom prst="rect">
            <a:avLst/>
          </a:prstGeom>
          <a:solidFill>
            <a:srgbClr val="152D54"/>
          </a:solidFill>
          <a:ln w="19050">
            <a:solidFill>
              <a:srgbClr val="00B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587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 →  Green Light  →  ISV Submission  →  Azure Marketplace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to Azure Marketplace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80467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920240"/>
            <a:ext cx="521208" cy="521208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20240"/>
            <a:ext cx="52120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" y="251460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Light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65376" y="1920240"/>
            <a:ext cx="521208" cy="5212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65376" y="1920240"/>
            <a:ext cx="52120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35608" y="251460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Center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1920240"/>
            <a:ext cx="521208" cy="52120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3552" y="1920240"/>
            <a:ext cx="52120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43784" y="251460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Deploy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Hardening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1920240"/>
            <a:ext cx="521208" cy="521208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1920240"/>
            <a:ext cx="52120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251460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 Content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Pricing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920240"/>
            <a:ext cx="521208" cy="521208"/>
          </a:xfrm>
          <a:prstGeom prst="ellipse">
            <a:avLst/>
          </a:prstGeom>
          <a:solidFill>
            <a:srgbClr val="8764B8"/>
          </a:solidFill>
          <a:ln w="12700">
            <a:solidFill>
              <a:srgbClr val="8764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9904" y="1920240"/>
            <a:ext cx="52120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0136" y="251460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1920240"/>
            <a:ext cx="521208" cy="521208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1920240"/>
            <a:ext cx="52120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68312" y="251460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Launch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Marketplace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8961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886200"/>
            <a:ext cx="8229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$499/mo   ·   Growth $1,499/mo   ·   Enterprise $4,999/mo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Contacts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6012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Welcome letter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docs/handover/00_Welcome_Amritha.md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deck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docs/handover/04_Architecture_Deck.pptx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KT Document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docs/handover/01_KT_Document.docx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Setup Guide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docs/handover/02_Environment_Setup_Guide.md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 vs Pending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docs/handover/03_Done_vs_Pending.md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Testing Guide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docs/handover/05_Testing_Guide.md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Demo Script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docs/handover/06_Demo_Script.md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ISV Checklist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docs/handover/07_ISV_Readiness_Checklist.md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2D54"/>
          </a:solidFill>
          <a:ln w="12700">
            <a:solidFill>
              <a:srgbClr val="152D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 bish@aqueductsconsulting.com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FabricShield AI — Architecture Deck</dc:title>
  <dc:subject>PptxGenJS Presentation</dc:subject>
  <dc:creator>Bishwesh</dc:creator>
  <cp:lastModifiedBy>Bishwesh</cp:lastModifiedBy>
  <cp:revision>1</cp:revision>
  <dcterms:created xsi:type="dcterms:W3CDTF">2026-06-05T04:51:08Z</dcterms:created>
  <dcterms:modified xsi:type="dcterms:W3CDTF">2026-06-05T04:51:08Z</dcterms:modified>
</cp:coreProperties>
</file>